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1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8" r:id="rId3"/>
    <p:sldId id="269" r:id="rId4"/>
    <p:sldId id="270" r:id="rId5"/>
    <p:sldId id="259" r:id="rId6"/>
    <p:sldId id="271" r:id="rId7"/>
    <p:sldId id="261" r:id="rId8"/>
    <p:sldId id="278" r:id="rId9"/>
    <p:sldId id="272" r:id="rId10"/>
    <p:sldId id="263" r:id="rId11"/>
    <p:sldId id="260" r:id="rId12"/>
    <p:sldId id="273" r:id="rId13"/>
    <p:sldId id="275" r:id="rId14"/>
    <p:sldId id="276" r:id="rId15"/>
    <p:sldId id="267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CEA1E9-C4A2-4742-A097-F24586E755B4}">
  <a:tblStyle styleId="{D1CEA1E9-C4A2-4742-A097-F24586E755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90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7BEAF3-AF21-CDD1-8EC9-ADE7E340F6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D68D02-085A-B69F-58F5-CEA36AB47E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184CD-E98C-449D-B847-A970A13981F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C9BC5-49F0-1725-5F06-8FD4080EF6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B.E(AI&amp;ML/Data Science/IoT-CS-BcT/CSIT)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C480E-9B14-38A2-1D25-C80D725462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882D0-7022-4F06-BFC2-BFA1D8329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5149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f62bb42f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ff62bb42f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0f3e2b18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0f3e2b18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f62bb42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ff62bb42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f62bb42f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f62bb42f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9E468C9B-C776-F025-E039-C9E01CDA9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f62bb42fd_0_20:notes">
            <a:extLst>
              <a:ext uri="{FF2B5EF4-FFF2-40B4-BE49-F238E27FC236}">
                <a16:creationId xmlns:a16="http://schemas.microsoft.com/office/drawing/2014/main" id="{6D328070-2578-04D8-E20E-96000BA5D6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f62bb42fd_0_20:notes">
            <a:extLst>
              <a:ext uri="{FF2B5EF4-FFF2-40B4-BE49-F238E27FC236}">
                <a16:creationId xmlns:a16="http://schemas.microsoft.com/office/drawing/2014/main" id="{4E7FD263-02E8-2EE9-E59C-C19DCC5EA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767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9F0D0CC6-AB45-B421-9F40-63D17C2D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f62bb42fd_0_20:notes">
            <a:extLst>
              <a:ext uri="{FF2B5EF4-FFF2-40B4-BE49-F238E27FC236}">
                <a16:creationId xmlns:a16="http://schemas.microsoft.com/office/drawing/2014/main" id="{BA1C3A00-EFF6-3FE6-5961-82C9938AFE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f62bb42fd_0_20:notes">
            <a:extLst>
              <a:ext uri="{FF2B5EF4-FFF2-40B4-BE49-F238E27FC236}">
                <a16:creationId xmlns:a16="http://schemas.microsoft.com/office/drawing/2014/main" id="{71B9A7E1-C45A-E60D-C78F-C58D97FEB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7148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1E092BBC-AAD8-B2DC-7284-C31AAA77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f62bb42fd_0_20:notes">
            <a:extLst>
              <a:ext uri="{FF2B5EF4-FFF2-40B4-BE49-F238E27FC236}">
                <a16:creationId xmlns:a16="http://schemas.microsoft.com/office/drawing/2014/main" id="{471390C3-CE6A-B249-6D63-CC89D92C7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f62bb42fd_0_20:notes">
            <a:extLst>
              <a:ext uri="{FF2B5EF4-FFF2-40B4-BE49-F238E27FC236}">
                <a16:creationId xmlns:a16="http://schemas.microsoft.com/office/drawing/2014/main" id="{01514291-1F4A-435F-930E-EBFBA341C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462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f62bb42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ff62bb42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6716-4847-43A8-84C8-6338CD7B1A5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3424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251B-56E4-4C1E-9FD9-3FAABB6FCD7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525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B58B-3E07-4671-A651-F3227DA43974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250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4559-4FD5-45FD-A954-010DA54A9F8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451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E503-6B81-4268-9100-F06EDC19D6D6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0450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FC43-8572-41C0-A62F-46FAB4057CAA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8497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9F91-DD41-4E82-9DE4-72E12341AA45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2039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D04B-62A7-4675-B7DB-6D1FE9E04C6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0749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F6D6-ADB3-489A-B5DB-41B8E2523A1C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6817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D771B-E9F0-4033-BE8E-65DA091AFC45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43496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450A8-12C4-46DE-84C4-B2E815267745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2018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3072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BC50C-6F97-4D01-A717-4669D233F3D0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B.E(AI&amp;ML/Data Science/IoT-CS-BcT/CSIT)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881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385589" y="1835115"/>
            <a:ext cx="8571124" cy="3093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Project Title: </a:t>
            </a:r>
            <a:r>
              <a:rPr lang="en-US" sz="1600" dirty="0"/>
              <a:t>BREATH CARE-AI-POWERED AUDIO BASED ANALYSIS APP FOR RESPIRATORY DISEASE PREDICTION</a:t>
            </a:r>
            <a:endParaRPr lang="en-IN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Batch-ID: </a:t>
            </a:r>
            <a:r>
              <a:rPr lang="en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24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Student Team Members: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Both"/>
            </a:pPr>
            <a:r>
              <a:rPr lang="en-US" sz="1800" dirty="0" err="1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Bolenane</a:t>
            </a:r>
            <a:r>
              <a:rPr lang="en-US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 Kusuma,2451-22-749-006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Both"/>
            </a:pPr>
            <a:r>
              <a:rPr lang="en-US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Police Karthik Reddy,2451-22-749-057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Guide: Name, Designation, Dept. of CSE/CSE-Allied, MVSREC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42799-1686-B977-CE77-D8311D6ECA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1"/>
          <a:stretch/>
        </p:blipFill>
        <p:spPr bwMode="auto">
          <a:xfrm>
            <a:off x="1043079" y="214799"/>
            <a:ext cx="7483976" cy="16203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56559B-A981-E064-9B6D-3B38EFB2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9E3E-08E4-38E4-0A9A-677752E0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badi" panose="020F0502020204030204" pitchFamily="34" charset="0"/>
              </a:rPr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B1951-DB40-FC9B-0257-E933EDE10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sz="1900" b="1" dirty="0">
                <a:latin typeface="Abadi" panose="020F0502020204030204" pitchFamily="34" charset="0"/>
              </a:rPr>
              <a:t>Abstract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Introduction 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System Architecture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Implemenation(Module(s) Description)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Results &amp; Discusion(With Proper tables &amp; Figures)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Conclusion &amp; Future Enhancment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Github Link</a:t>
            </a:r>
          </a:p>
          <a:p>
            <a:pPr>
              <a:buFont typeface="+mj-lt"/>
              <a:buAutoNum type="arabicPeriod"/>
            </a:pPr>
            <a:r>
              <a:rPr lang="en" sz="1900" b="1" dirty="0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Proof </a:t>
            </a:r>
            <a:r>
              <a:rPr lang="en" sz="1900" b="1">
                <a:latin typeface="Abadi" panose="020F0502020204030204" pitchFamily="34" charset="0"/>
                <a:ea typeface="Times New Roman"/>
                <a:cs typeface="Times New Roman"/>
                <a:sym typeface="Times New Roman"/>
              </a:rPr>
              <a:t>of Publication</a:t>
            </a:r>
            <a:b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0CF60-9B2A-7539-6CE0-8D134B2EA5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3014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80339-59B7-9589-E25C-D31F4313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Abadi" panose="020B0604020104020204" pitchFamily="34" charset="0"/>
              </a:rPr>
              <a:t>Abstract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9E9FF-F674-D784-63A0-58390B57A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2EEC94-81A1-98B1-E749-E459B9A67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2543" y="1291014"/>
            <a:ext cx="843891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altLang="en-US" sz="2200" dirty="0" err="1"/>
              <a:t>BreathCare</a:t>
            </a:r>
            <a:r>
              <a:rPr lang="en-US" altLang="en-US" sz="2200" dirty="0"/>
              <a:t> predicts respiratory diseases using audio signals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Uses breathing/voice recordings as input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Applies preprocessing and feature extraction (MFCC, RMS, ZCR)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Uses machine learning model for classification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Detects conditions: Normal, Asthma, Bronchitis, Pneumonia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Provides fast and user-friendly prediction results </a:t>
            </a:r>
          </a:p>
        </p:txBody>
      </p:sp>
    </p:spTree>
    <p:extLst>
      <p:ext uri="{BB962C8B-B14F-4D97-AF65-F5344CB8AC3E}">
        <p14:creationId xmlns:p14="http://schemas.microsoft.com/office/powerpoint/2010/main" val="242571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4B43-8CFB-96F7-0B87-E5D4B80F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65703-9F95-AA7B-D2DB-A04CF8B2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Introduction </a:t>
            </a:r>
            <a:br>
              <a:rPr lang="en" b="1" dirty="0">
                <a:ea typeface="Times New Roman"/>
                <a:cs typeface="Times New Roman"/>
                <a:sym typeface="Times New Roman"/>
              </a:rPr>
            </a:b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BF4F8-6042-0083-8FE5-B64BF85FD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Respiratory diseases affect millions of people worldwide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Early detection is essential for effective treatment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Traditional diagnosis requires medical expertise and equipment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/>
              <a:t>BreathCare</a:t>
            </a:r>
            <a:r>
              <a:rPr lang="en-US" sz="2400" dirty="0"/>
              <a:t> uses audio signals for disease detection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Machine learning is used to analyze breathing patterns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Provides a simple, fast, and cost-effective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02DBE-5210-E0F9-77E4-C69C7B4ED4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3245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500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4EF3F3-E958-E8F6-37DE-D018800CAA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aphicFrame>
        <p:nvGraphicFramePr>
          <p:cNvPr id="71" name="Google Shape;71;p16"/>
          <p:cNvGraphicFramePr/>
          <p:nvPr>
            <p:extLst>
              <p:ext uri="{D42A27DB-BD31-4B8C-83A1-F6EECF244321}">
                <p14:modId xmlns:p14="http://schemas.microsoft.com/office/powerpoint/2010/main" val="3682389478"/>
              </p:ext>
            </p:extLst>
          </p:nvPr>
        </p:nvGraphicFramePr>
        <p:xfrm>
          <a:off x="609599" y="792600"/>
          <a:ext cx="7030825" cy="4091730"/>
        </p:xfrm>
        <a:graphic>
          <a:graphicData uri="http://schemas.openxmlformats.org/drawingml/2006/table">
            <a:tbl>
              <a:tblPr>
                <a:noFill/>
                <a:tableStyleId>{D1CEA1E9-C4A2-4742-A097-F24586E755B4}</a:tableStyleId>
              </a:tblPr>
              <a:tblGrid>
                <a:gridCol w="84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80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Major Reference(s)</a:t>
                      </a:r>
                      <a:endParaRPr sz="18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Finding(s)</a:t>
                      </a:r>
                      <a:endParaRPr sz="18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Logan (2000) 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MFCC is effective for representing audio characteristics and widely used in speech and respiratory analysis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Rabiner &amp; Juang (1993) 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Speech signals can be analyzed using features like energy and frequency components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Giannakopoulos (2014) 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RMS energy and ZCR are important features for audio signal analysis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29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Bardou et al. (2018) 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models classify lung sounds with high accuracy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Jakovljevic et al. (2019)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models can classify respiratory diseases using extracted features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4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Pramono</a:t>
                      </a: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et al. (2017)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Respiratory sound analysis helps detect abnormal breathing patterns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8D39-928E-49C1-6D91-598AD679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System Architecture</a:t>
            </a:r>
            <a:br>
              <a:rPr lang="en" b="1" dirty="0">
                <a:ea typeface="Times New Roman"/>
                <a:cs typeface="Times New Roman"/>
                <a:sym typeface="Times New Roman"/>
              </a:rPr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54D44F-1F63-688D-DB76-75F88B4BF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865632"/>
            <a:ext cx="3886200" cy="3767091"/>
          </a:xfrm>
        </p:spPr>
        <p:txBody>
          <a:bodyPr>
            <a:normAutofit/>
          </a:bodyPr>
          <a:lstStyle/>
          <a:p>
            <a:r>
              <a:rPr lang="en-US" dirty="0"/>
              <a:t>User provides respiratory audio</a:t>
            </a:r>
          </a:p>
          <a:p>
            <a:r>
              <a:rPr lang="en-US" dirty="0"/>
              <a:t>Audio is preprocessed for noise removal</a:t>
            </a:r>
          </a:p>
          <a:p>
            <a:r>
              <a:rPr lang="en-US" dirty="0"/>
              <a:t>Features extracted: MFCC, RMS, ZCR</a:t>
            </a:r>
          </a:p>
          <a:p>
            <a:r>
              <a:rPr lang="en-US" dirty="0"/>
              <a:t>Model predicts respiratory condition</a:t>
            </a:r>
          </a:p>
          <a:p>
            <a:r>
              <a:rPr lang="en-US" dirty="0"/>
              <a:t>Results displayed with values and charts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F3AD3-670A-B521-107C-22007991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9" name="Image 11">
            <a:extLst>
              <a:ext uri="{FF2B5EF4-FFF2-40B4-BE49-F238E27FC236}">
                <a16:creationId xmlns:a16="http://schemas.microsoft.com/office/drawing/2014/main" id="{A82B795F-0F94-622D-958A-7A8C98F931A8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730496" y="865632"/>
            <a:ext cx="3986784" cy="376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9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311700" y="140224"/>
            <a:ext cx="8578912" cy="7190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500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Hardware requirements for development &amp; deployment</a:t>
            </a:r>
            <a:endParaRPr sz="2500" dirty="0">
              <a:solidFill>
                <a:srgbClr val="FF0000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B87F0-5DE5-C31C-6F8E-EF1353E32C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graphicFrame>
        <p:nvGraphicFramePr>
          <p:cNvPr id="83" name="Google Shape;83;p18"/>
          <p:cNvGraphicFramePr/>
          <p:nvPr>
            <p:extLst>
              <p:ext uri="{D42A27DB-BD31-4B8C-83A1-F6EECF244321}">
                <p14:modId xmlns:p14="http://schemas.microsoft.com/office/powerpoint/2010/main" val="1369015524"/>
              </p:ext>
            </p:extLst>
          </p:nvPr>
        </p:nvGraphicFramePr>
        <p:xfrm>
          <a:off x="914399" y="859315"/>
          <a:ext cx="7181089" cy="4023150"/>
        </p:xfrm>
        <a:graphic>
          <a:graphicData uri="http://schemas.openxmlformats.org/drawingml/2006/table">
            <a:tbl>
              <a:tblPr>
                <a:noFill/>
                <a:tableStyleId>{D1CEA1E9-C4A2-4742-A097-F24586E755B4}</a:tableStyleId>
              </a:tblPr>
              <a:tblGrid>
                <a:gridCol w="133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924">
                  <a:extLst>
                    <a:ext uri="{9D8B030D-6E8A-4147-A177-3AD203B41FA5}">
                      <a16:colId xmlns:a16="http://schemas.microsoft.com/office/drawing/2014/main" val="1155602940"/>
                    </a:ext>
                  </a:extLst>
                </a:gridCol>
                <a:gridCol w="4137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9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Tool </a:t>
                      </a:r>
                      <a:endParaRPr sz="18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Version </a:t>
                      </a:r>
                      <a:endParaRPr sz="18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Usage</a:t>
                      </a:r>
                      <a:endParaRPr sz="18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3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Desktop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Windows 10/11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Running the application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2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Processor 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Intel i5 10th Gen / Ryzen 5 3500U or above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Fast computation and model execution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2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RAM 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 GB DDR4 or above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Smooth processing of audio data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2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Microphone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Built-in / External 16-bit, 44.1 kHz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Recording respiratory audio input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2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Storage 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256 GB SSD or above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Storing datasets and model files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2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Internet Connection 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10 Mbps or above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Downloading datasets and deployment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185C-BA62-FB5B-F8AD-2D00C0C8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500" dirty="0">
                <a:solidFill>
                  <a:srgbClr val="FF0000"/>
                </a:solidFill>
                <a:latin typeface="Abadi" panose="020B0604020104020204" pitchFamily="34" charset="0"/>
                <a:cs typeface="Times New Roman"/>
                <a:sym typeface="Times New Roman"/>
              </a:rPr>
              <a:t>Hardware requirements for development &amp; deployment</a:t>
            </a:r>
            <a:endParaRPr lang="en-IN" sz="2500" dirty="0">
              <a:solidFill>
                <a:srgbClr val="FF0000"/>
              </a:solidFill>
              <a:latin typeface="Abadi" panose="020B0604020104020204" pitchFamily="34" charset="0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1BB00-4A67-33D7-7020-EAF2C32E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D61371-8AFF-4972-0355-815D6619A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590230"/>
              </p:ext>
            </p:extLst>
          </p:nvPr>
        </p:nvGraphicFramePr>
        <p:xfrm>
          <a:off x="628650" y="1133856"/>
          <a:ext cx="7886700" cy="3800600"/>
        </p:xfrm>
        <a:graphic>
          <a:graphicData uri="http://schemas.openxmlformats.org/drawingml/2006/table">
            <a:tbl>
              <a:tblPr firstRow="1" bandRow="1">
                <a:tableStyleId>{D1CEA1E9-C4A2-4742-A097-F24586E755B4}</a:tableStyleId>
              </a:tblPr>
              <a:tblGrid>
                <a:gridCol w="1626870">
                  <a:extLst>
                    <a:ext uri="{9D8B030D-6E8A-4147-A177-3AD203B41FA5}">
                      <a16:colId xmlns:a16="http://schemas.microsoft.com/office/drawing/2014/main" val="1925744915"/>
                    </a:ext>
                  </a:extLst>
                </a:gridCol>
                <a:gridCol w="2145792">
                  <a:extLst>
                    <a:ext uri="{9D8B030D-6E8A-4147-A177-3AD203B41FA5}">
                      <a16:colId xmlns:a16="http://schemas.microsoft.com/office/drawing/2014/main" val="3398349644"/>
                    </a:ext>
                  </a:extLst>
                </a:gridCol>
                <a:gridCol w="4114038">
                  <a:extLst>
                    <a:ext uri="{9D8B030D-6E8A-4147-A177-3AD203B41FA5}">
                      <a16:colId xmlns:a16="http://schemas.microsoft.com/office/drawing/2014/main" val="363697248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cs typeface="Times New Roman"/>
                        </a:rPr>
                        <a:t>Technology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cs typeface="Times New Roman"/>
                        </a:rPr>
                        <a:t>Version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  <a:cs typeface="Times New Roman"/>
                        </a:rPr>
                        <a:t>Usage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Abadi" panose="020B0604020104020204" pitchFamily="34" charset="0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707210"/>
                  </a:ext>
                </a:extLst>
              </a:tr>
              <a:tr h="406495">
                <a:tc>
                  <a:txBody>
                    <a:bodyPr/>
                    <a:lstStyle/>
                    <a:p>
                      <a:r>
                        <a:rPr lang="en-IN" dirty="0"/>
                        <a:t>Python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Core programming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037576"/>
                  </a:ext>
                </a:extLst>
              </a:tr>
              <a:tr h="406495">
                <a:tc>
                  <a:txBody>
                    <a:bodyPr/>
                    <a:lstStyle/>
                    <a:p>
                      <a:r>
                        <a:rPr lang="en-IN" dirty="0"/>
                        <a:t>Anaconda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2023.X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Environment setup and package management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188172"/>
                  </a:ext>
                </a:extLst>
              </a:tr>
              <a:tr h="406495">
                <a:tc>
                  <a:txBody>
                    <a:bodyPr/>
                    <a:lstStyle/>
                    <a:p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1.30+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interface for audio upload and results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667137"/>
                  </a:ext>
                </a:extLst>
              </a:tr>
              <a:tr h="406495">
                <a:tc>
                  <a:txBody>
                    <a:bodyPr/>
                    <a:lstStyle/>
                    <a:p>
                      <a:r>
                        <a:rPr lang="en-IN" dirty="0" err="1"/>
                        <a:t>Librosa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Audio preprocessing and feature extraction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547632"/>
                  </a:ext>
                </a:extLst>
              </a:tr>
              <a:tr h="406495">
                <a:tc>
                  <a:txBody>
                    <a:bodyPr/>
                    <a:lstStyle/>
                    <a:p>
                      <a:r>
                        <a:rPr lang="en-IN" dirty="0"/>
                        <a:t>NumPy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1.24+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Numerical computations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88168"/>
                  </a:ext>
                </a:extLst>
              </a:tr>
              <a:tr h="406495">
                <a:tc>
                  <a:txBody>
                    <a:bodyPr/>
                    <a:lstStyle/>
                    <a:p>
                      <a:r>
                        <a:rPr lang="en-IN" dirty="0"/>
                        <a:t>Scikit-learn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Machine learning model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376862"/>
                  </a:ext>
                </a:extLst>
              </a:tr>
              <a:tr h="406495">
                <a:tc>
                  <a:txBody>
                    <a:bodyPr/>
                    <a:lstStyle/>
                    <a:p>
                      <a:r>
                        <a:rPr lang="en-IN" dirty="0"/>
                        <a:t>Matplotlib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Visualization of waveform and features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180389"/>
                  </a:ext>
                </a:extLst>
              </a:tr>
              <a:tr h="406495">
                <a:tc>
                  <a:txBody>
                    <a:bodyPr/>
                    <a:lstStyle/>
                    <a:p>
                      <a:r>
                        <a:rPr lang="en-IN" dirty="0" err="1"/>
                        <a:t>Jupyter</a:t>
                      </a:r>
                      <a:r>
                        <a:rPr lang="en-IN" dirty="0"/>
                        <a:t>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6.x/7.x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development and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561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799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C0C1-BBE1-F901-4182-4A9842F2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Implemenation </a:t>
            </a:r>
            <a:br>
              <a:rPr lang="en" b="1" dirty="0"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</a:b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0B260-3A57-6E3F-8A58-09A016B39D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16EE62-C0F2-96FD-9E24-B1BE41F1FE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252269"/>
            <a:ext cx="8155374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Environment setup using Python and Anaconda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Installation of required libraries (</a:t>
            </a:r>
            <a:r>
              <a:rPr lang="en-US" altLang="en-US" sz="2200" dirty="0" err="1"/>
              <a:t>Librosa</a:t>
            </a:r>
            <a:r>
              <a:rPr lang="en-US" altLang="en-US" sz="2200" dirty="0"/>
              <a:t>, NumPy, Scikit-learn)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Audio input collected through microphone or uploaded file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Preprocessing of audio (noise removal, normalization)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Feature extraction using MFCC, RMS, and ZCR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Machine learning model trained using extracted features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Model prediction integrated with </a:t>
            </a:r>
            <a:r>
              <a:rPr lang="en-US" altLang="en-US" sz="2200" dirty="0" err="1"/>
              <a:t>Streamlit</a:t>
            </a:r>
            <a:r>
              <a:rPr lang="en-US" altLang="en-US" sz="2200" dirty="0"/>
              <a:t> interface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Results displayed to the user in real time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42980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Module(s)Description</a:t>
            </a:r>
            <a:endParaRPr sz="2400" b="1" dirty="0">
              <a:solidFill>
                <a:srgbClr val="FF0000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3D2E48-4A72-F95D-2086-1AC7DB3D25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graphicFrame>
        <p:nvGraphicFramePr>
          <p:cNvPr id="95" name="Google Shape;95;p20"/>
          <p:cNvGraphicFramePr/>
          <p:nvPr>
            <p:extLst>
              <p:ext uri="{D42A27DB-BD31-4B8C-83A1-F6EECF244321}">
                <p14:modId xmlns:p14="http://schemas.microsoft.com/office/powerpoint/2010/main" val="2352598923"/>
              </p:ext>
            </p:extLst>
          </p:nvPr>
        </p:nvGraphicFramePr>
        <p:xfrm>
          <a:off x="401425" y="792599"/>
          <a:ext cx="8278750" cy="3870617"/>
        </p:xfrm>
        <a:graphic>
          <a:graphicData uri="http://schemas.openxmlformats.org/drawingml/2006/table">
            <a:tbl>
              <a:tblPr>
                <a:noFill/>
                <a:tableStyleId>{D1CEA1E9-C4A2-4742-A097-F24586E755B4}</a:tableStyleId>
              </a:tblPr>
              <a:tblGrid>
                <a:gridCol w="190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module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 of the module</a:t>
                      </a: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9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interface Module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Allows the user to upload respiratory audio and view the prediction results.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3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 processing Module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Clean the audio signal by removing noise, normalizing amplitude, and improving quality.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3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extraction Module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Extracts important feature such as MFCC, RMS, Zero Crossing Rate(ZCR).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3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Model Module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extracted features to classify the respiratory condition using a trained model.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99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 Module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Generates the predicted output based on model analysis.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3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 Visualization Module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 the detected condition and feature value in a user-friendly format.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500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Results &amp; Discusion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67B9B-A563-E7F1-DB9D-7BA49C50B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2200" dirty="0"/>
              <a:t>System successfully processes respiratory audio inputs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Feature extracted: MFCC, RMS, ZCR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Model predicts conditions: Normal, Asthma, Bronchitis, Pneumonia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Achieved good classification accuracy(~85 -90%)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Different patterns observed for each disease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Results vary slightly due to noise and recording conditions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System provides </a:t>
            </a:r>
            <a:r>
              <a:rPr lang="en-US" sz="2200" dirty="0" err="1"/>
              <a:t>fasr</a:t>
            </a:r>
            <a:r>
              <a:rPr lang="en-US" sz="2200" dirty="0"/>
              <a:t> and real-time prediction</a:t>
            </a:r>
            <a:endParaRPr lang="en-IN"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0663B-C261-9C77-3595-5BB394D99B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AF293513-1E26-2ED3-0DD8-13E2379F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E002E99F-7F1E-E5F5-543C-5FAE82E87A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33674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500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Conclusion &amp; Future Enhancement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F41189-FC41-C2EE-1187-1339A3EC75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F4465F-E8AB-6D4D-64C4-A717B84B29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68516" y="509064"/>
            <a:ext cx="9305111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marR="0" lvl="0" indent="0" algn="just" fontAlgn="base">
              <a:lnSpc>
                <a:spcPct val="150000"/>
              </a:lnSpc>
              <a:buClrTx/>
              <a:buNone/>
              <a:tabLst/>
            </a:pPr>
            <a:endParaRPr lang="en-US" altLang="en-US" sz="2200" dirty="0"/>
          </a:p>
          <a:p>
            <a:pPr marL="457200" lvl="8" indent="-342900" algn="just" fontAlgn="base">
              <a:lnSpc>
                <a:spcPct val="150000"/>
              </a:lnSpc>
              <a:buSzPts val="1800"/>
              <a:buFont typeface="Arial" panose="020B0604020202020204" pitchFamily="34" charset="0"/>
              <a:buChar char="●"/>
            </a:pPr>
            <a:r>
              <a:rPr lang="en-US" altLang="en-US" sz="2200" dirty="0"/>
              <a:t>Add advanced AI models to improve accuracy and prediction capability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Integrate real-time data processing for better performance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Develop a mobile application version for wider accessibility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Enhance UI/UX design for a more interactive user experience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Implement cloud deployment for scalability and storage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Add security features like authentication and data encryption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Include more features based on user feedback and real-world usage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Expand the system to support multiple domains or use cases </a:t>
            </a:r>
          </a:p>
        </p:txBody>
      </p:sp>
    </p:spTree>
    <p:extLst>
      <p:ext uri="{BB962C8B-B14F-4D97-AF65-F5344CB8AC3E}">
        <p14:creationId xmlns:p14="http://schemas.microsoft.com/office/powerpoint/2010/main" val="3899845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A0AB57FF-D000-AE27-B602-9F2906EB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0EF20CFF-FA1E-89D3-A214-D2952BF54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500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80CA6D-CE3B-EA2E-6C06-A79F5E65EF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424BC8A5-EED6-4757-8156-7163FFA51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1" y="783183"/>
            <a:ext cx="8520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B. Logan, Mel Frequency Cepstral Coefficients for Music Modeling, ISMIR, 2000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L. Rabiner &amp; B. H. Juang, Fundamentals of Speech Recognition, 1993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T. Giannakopoulos, Introduction to Audio Analysis, 2014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A. Bardou et al., Lung Sound Classification Using CNN, 2018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Pramono et al., Automatic Respiratory Sound Analysis, 2017 </a:t>
            </a:r>
          </a:p>
          <a:p>
            <a:pPr marR="0" lvl="0" algn="just" fontAlgn="base">
              <a:lnSpc>
                <a:spcPct val="150000"/>
              </a:lnSpc>
              <a:buClrTx/>
              <a:tabLst/>
            </a:pPr>
            <a:r>
              <a:rPr lang="en-US" altLang="en-US" sz="2200" dirty="0"/>
              <a:t>Kaiming He et al., Deep Residual Learning (</a:t>
            </a:r>
            <a:r>
              <a:rPr lang="en-US" altLang="en-US" sz="2200" dirty="0" err="1"/>
              <a:t>ResNet</a:t>
            </a:r>
            <a:r>
              <a:rPr lang="en-US" altLang="en-US" sz="2200" dirty="0"/>
              <a:t>), 2016 </a:t>
            </a:r>
          </a:p>
        </p:txBody>
      </p:sp>
    </p:spTree>
    <p:extLst>
      <p:ext uri="{BB962C8B-B14F-4D97-AF65-F5344CB8AC3E}">
        <p14:creationId xmlns:p14="http://schemas.microsoft.com/office/powerpoint/2010/main" val="878491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D567D27C-AD1F-8B1F-4745-6405BE04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F1752781-B002-ABAA-434F-5C913B600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500" b="1" dirty="0">
                <a:solidFill>
                  <a:srgbClr val="FF0000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F96574-F8F7-2894-BC16-0713A571B3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00CB51-A8C9-BE0B-A835-BF0F4725F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699" y="1291015"/>
            <a:ext cx="816075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fontAlgn="base">
              <a:lnSpc>
                <a:spcPct val="150000"/>
              </a:lnSpc>
              <a:buClrTx/>
              <a:buFont typeface="Arial" panose="020B0604020202020204" pitchFamily="34" charset="0"/>
              <a:buChar char="•"/>
              <a:tabLst/>
            </a:pPr>
            <a:r>
              <a:rPr lang="en-US" altLang="en-US" sz="2200" dirty="0"/>
              <a:t>Sepp Hochreiter &amp; Jürgen </a:t>
            </a:r>
            <a:r>
              <a:rPr lang="en-US" altLang="en-US" sz="2200" dirty="0" err="1"/>
              <a:t>Schmidhuber</a:t>
            </a:r>
            <a:r>
              <a:rPr lang="en-US" altLang="en-US" sz="2200" dirty="0"/>
              <a:t>, Long Short-Term Memory (LSTM), 1997 </a:t>
            </a:r>
          </a:p>
          <a:p>
            <a:pPr marL="0" marR="0" lvl="0" indent="0" algn="just" fontAlgn="base">
              <a:lnSpc>
                <a:spcPct val="150000"/>
              </a:lnSpc>
              <a:buClrTx/>
              <a:buFont typeface="Arial" panose="020B0604020202020204" pitchFamily="34" charset="0"/>
              <a:buChar char="•"/>
              <a:tabLst/>
            </a:pPr>
            <a:r>
              <a:rPr lang="en-US" altLang="en-US" sz="2200" dirty="0"/>
              <a:t>Alex Krizhevsky et al., ImageNet Classification with CNN, 2012 </a:t>
            </a:r>
          </a:p>
          <a:p>
            <a:pPr marL="0" marR="0" lvl="0" indent="0" algn="just" fontAlgn="base">
              <a:lnSpc>
                <a:spcPct val="150000"/>
              </a:lnSpc>
              <a:buClrTx/>
              <a:buFont typeface="Arial" panose="020B0604020202020204" pitchFamily="34" charset="0"/>
              <a:buChar char="•"/>
              <a:tabLst/>
            </a:pPr>
            <a:r>
              <a:rPr lang="en-US" altLang="en-US" sz="2200" dirty="0"/>
              <a:t>Ian Goodfellow et al., Deep Learning, MIT Press, 2016 </a:t>
            </a:r>
          </a:p>
          <a:p>
            <a:pPr marL="0" marR="0" lvl="0" indent="0" algn="just" fontAlgn="base">
              <a:lnSpc>
                <a:spcPct val="150000"/>
              </a:lnSpc>
              <a:buClrTx/>
              <a:buFont typeface="Arial" panose="020B0604020202020204" pitchFamily="34" charset="0"/>
              <a:buChar char="•"/>
              <a:tabLst/>
            </a:pPr>
            <a:r>
              <a:rPr lang="en-US" altLang="en-US" sz="2200" dirty="0"/>
              <a:t>ICBHI Respiratory Sound Database (2017) &amp; </a:t>
            </a:r>
            <a:r>
              <a:rPr lang="en-US" altLang="en-US" sz="2200" dirty="0" err="1"/>
              <a:t>Coswara</a:t>
            </a:r>
            <a:r>
              <a:rPr lang="en-US" altLang="en-US" sz="2200" dirty="0"/>
              <a:t> Dataset (IISc Bangalore, 2020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828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252575" y="1641775"/>
            <a:ext cx="8576400" cy="3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Project Title :</a:t>
            </a:r>
            <a:r>
              <a:rPr lang="en" sz="20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/>
              <a:t>BREATH CARE-AI-POWERED AUDIO BASED ANALYSIS APP FOR RESPIRATORY DISEASE PREDICTI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Batch-ID: </a:t>
            </a:r>
            <a:r>
              <a:rPr lang="en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24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Student Team Members: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Both"/>
            </a:pPr>
            <a:r>
              <a:rPr lang="en-US" sz="1800" dirty="0" err="1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Bolenane</a:t>
            </a:r>
            <a:r>
              <a:rPr lang="en-US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 Kusuma,2451-22-749006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Both"/>
            </a:pPr>
            <a:r>
              <a:rPr lang="en-US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Police Karthik Reddy,2451-22-749-057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K.Rajesh kumar,</a:t>
            </a:r>
            <a:r>
              <a:rPr lang="en-US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Assistant professor</a:t>
            </a:r>
            <a:r>
              <a:rPr lang="en" sz="1800" dirty="0">
                <a:solidFill>
                  <a:schemeClr val="dk1"/>
                </a:solidFill>
                <a:latin typeface="Abadi" panose="020B0604020104020204" pitchFamily="34" charset="0"/>
                <a:ea typeface="Times New Roman"/>
                <a:cs typeface="Times New Roman"/>
                <a:sym typeface="Times New Roman"/>
              </a:rPr>
              <a:t>, Dept. of CSE, MVSREC</a:t>
            </a:r>
            <a:endParaRPr sz="1800" dirty="0">
              <a:solidFill>
                <a:schemeClr val="dk1"/>
              </a:solidFill>
              <a:latin typeface="Abadi" panose="020B060402010402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24"/>
          <p:cNvPicPr preferRelativeResize="0"/>
          <p:nvPr/>
        </p:nvPicPr>
        <p:blipFill rotWithShape="1">
          <a:blip r:embed="rId3">
            <a:alphaModFix/>
          </a:blip>
          <a:srcRect t="9578" b="26478"/>
          <a:stretch/>
        </p:blipFill>
        <p:spPr>
          <a:xfrm>
            <a:off x="2556913" y="114825"/>
            <a:ext cx="4030175" cy="144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CE376B-2ED6-80EF-0330-63F9D574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3076</TotalTime>
  <Words>975</Words>
  <Application>Microsoft Office PowerPoint</Application>
  <PresentationFormat>On-screen Show (16:9)</PresentationFormat>
  <Paragraphs>197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Abadi</vt:lpstr>
      <vt:lpstr>Aptos</vt:lpstr>
      <vt:lpstr>Aptos Display</vt:lpstr>
      <vt:lpstr>Arial</vt:lpstr>
      <vt:lpstr>Times New Roman</vt:lpstr>
      <vt:lpstr>Office Theme</vt:lpstr>
      <vt:lpstr>PowerPoint Presentation</vt:lpstr>
      <vt:lpstr>Contents</vt:lpstr>
      <vt:lpstr>Abstract </vt:lpstr>
      <vt:lpstr>Introduction   </vt:lpstr>
      <vt:lpstr>Literature Survey</vt:lpstr>
      <vt:lpstr>System Architecture </vt:lpstr>
      <vt:lpstr>Hardware requirements for development &amp; deployment</vt:lpstr>
      <vt:lpstr>Hardware requirements for development &amp; deployment</vt:lpstr>
      <vt:lpstr>Implemenation  </vt:lpstr>
      <vt:lpstr>Module(s)Description</vt:lpstr>
      <vt:lpstr>Results &amp; Discusion</vt:lpstr>
      <vt:lpstr>Conclusion &amp; Future Enhancement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MVSR</dc:creator>
  <cp:lastModifiedBy>Karthik Reddy</cp:lastModifiedBy>
  <cp:revision>6</cp:revision>
  <dcterms:modified xsi:type="dcterms:W3CDTF">2026-04-26T13:37:23Z</dcterms:modified>
</cp:coreProperties>
</file>